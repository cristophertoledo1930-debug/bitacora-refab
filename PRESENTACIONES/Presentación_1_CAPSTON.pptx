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Black"/>
      <p:bold r:id="rId13"/>
      <p:boldItalic r:id="rId14"/>
    </p:embeddedFont>
    <p:embeddedFont>
      <p:font typeface="Roboto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Black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Black-boldItalic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413eb34c9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413eb34c9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413eb34c9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413eb34c9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413eb34c9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413eb34c9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413eb34c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413eb34c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413eb34c9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413eb34c9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413eb34c9_0_1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413eb34c9_0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413eb34c9_0_1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413eb34c9_0_1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413eb34c9_6_0)">
  <p:cSld name="Generated (g3f413eb34c9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7.jpg"/><Relationship Id="rId6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4953000" y="381000"/>
            <a:ext cx="3810000" cy="4381500"/>
            <a:chOff x="4953000" y="381000"/>
            <a:chExt cx="3810000" cy="4381500"/>
          </a:xfrm>
        </p:grpSpPr>
        <p:sp>
          <p:nvSpPr>
            <p:cNvPr id="56" name="Google Shape;56;p14"/>
            <p:cNvSpPr/>
            <p:nvPr/>
          </p:nvSpPr>
          <p:spPr>
            <a:xfrm>
              <a:off x="4953000" y="381000"/>
              <a:ext cx="3810000" cy="4381500"/>
            </a:xfrm>
            <a:prstGeom prst="roundRect">
              <a:avLst>
                <a:gd fmla="val 4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hotorealistic high-quality close-up of a modern 3D printer actively printing a complex geometric structure with green PLA filament in a high-tech digital fabrication laboratory with soft, clean background lighting."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 b="6874" l="0" r="0" t="6874"/>
            <a:stretch/>
          </p:blipFill>
          <p:spPr>
            <a:xfrm>
              <a:off x="4953000" y="381000"/>
              <a:ext cx="3810000" cy="4381500"/>
            </a:xfrm>
            <a:prstGeom prst="roundRect">
              <a:avLst>
                <a:gd fmla="val 4000" name="adj"/>
              </a:avLst>
            </a:prstGeom>
            <a:noFill/>
            <a:ln>
              <a:noFill/>
            </a:ln>
          </p:spPr>
        </p:pic>
      </p:grpSp>
      <p:sp>
        <p:nvSpPr>
          <p:cNvPr id="58" name="Google Shape;58;p14"/>
          <p:cNvSpPr txBox="1"/>
          <p:nvPr/>
        </p:nvSpPr>
        <p:spPr>
          <a:xfrm>
            <a:off x="571500" y="5715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Desafío 05: Sostenibilidad - Lab881</a:t>
            </a:r>
            <a:endParaRPr b="1" sz="120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1047750"/>
            <a:ext cx="4000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306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Circularidad y manejo de residuos de fabricación digital</a:t>
            </a:r>
            <a:endParaRPr b="0" sz="306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cxnSp>
        <p:nvCxnSpPr>
          <p:cNvPr id="60" name="Google Shape;60;p14"/>
          <p:cNvCxnSpPr/>
          <p:nvPr/>
        </p:nvCxnSpPr>
        <p:spPr>
          <a:xfrm>
            <a:off x="571500" y="2952750"/>
            <a:ext cx="13335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/>
        </p:nvSpPr>
        <p:spPr>
          <a:xfrm>
            <a:off x="571500" y="323850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Integrantes</a:t>
            </a:r>
            <a:endParaRPr b="1" sz="12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71500" y="3571875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935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Adán Morales</a:t>
            </a:r>
            <a:endParaRPr b="0" sz="935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935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Ariela Valdés</a:t>
            </a:r>
            <a:endParaRPr b="0" sz="935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935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Catalina Olea</a:t>
            </a:r>
            <a:endParaRPr b="0" sz="935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935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Cristopher Toledo</a:t>
            </a:r>
            <a:endParaRPr b="0" sz="935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935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Elías Henríquez</a:t>
            </a:r>
            <a:endParaRPr b="0" sz="935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571500" y="381000"/>
            <a:ext cx="4000500" cy="743100"/>
            <a:chOff x="0" y="0"/>
            <a:chExt cx="4000500" cy="743100"/>
          </a:xfrm>
        </p:grpSpPr>
        <p:sp>
          <p:nvSpPr>
            <p:cNvPr id="68" name="Google Shape;68;p15"/>
            <p:cNvSpPr txBox="1"/>
            <p:nvPr/>
          </p:nvSpPr>
          <p:spPr>
            <a:xfrm>
              <a:off x="0" y="0"/>
              <a:ext cx="4000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Contexto y Problema Preliminar</a:t>
              </a:r>
              <a:endParaRPr b="1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0" y="266700"/>
              <a:ext cx="400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¿Cuál es el problema central?</a:t>
              </a:r>
              <a:endParaRPr b="0" sz="217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571500" y="1285875"/>
            <a:ext cx="4000500" cy="952500"/>
            <a:chOff x="0" y="0"/>
            <a:chExt cx="4000500" cy="9525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190500" y="142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95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Gestión de PLA</a:t>
              </a:r>
              <a:endParaRPr b="1" sz="1295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971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El PLA ya cuenta con un sistema de gestión activo mediante un convenio colaborativo establecido con REBASE.</a:t>
              </a:r>
              <a:endParaRPr b="0" sz="97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571500" y="2381250"/>
            <a:ext cx="4000500" cy="952500"/>
            <a:chOff x="0" y="0"/>
            <a:chExt cx="4000500" cy="952500"/>
          </a:xfrm>
        </p:grpSpPr>
        <p:sp>
          <p:nvSpPr>
            <p:cNvPr id="74" name="Google Shape;74;p15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190500" y="142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95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Focos Críticos</a:t>
              </a:r>
              <a:endParaRPr b="1" sz="1295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971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El problema real y actual se concentra en flujos de descarte que presentan las mayores dificultades operativas y de acopio.</a:t>
              </a:r>
              <a:endParaRPr b="0" sz="97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571500" y="3476625"/>
            <a:ext cx="4000500" cy="952500"/>
            <a:chOff x="0" y="0"/>
            <a:chExt cx="4000500" cy="9525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90500" y="142875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95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Residuos Complejos</a:t>
              </a:r>
              <a:endParaRPr b="1" sz="1295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971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Foco prioritario en resina de impresión 3D (altamente tóxica) y restos quemados o subproductos de la cortadora láser.</a:t>
              </a:r>
              <a:endParaRPr b="0" sz="97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A realistic and high-contrast photograph of digital fabrication waste, showing toxic liquid photopolymer resin leftovers inside a container and charred, soot-covered scrap pieces of acrylic and MDF wood from a laser cutter, arranged in a laboratory environment with cool technical lighting." id="79" name="Google Shape;79;p15"/>
          <p:cNvPicPr preferRelativeResize="0"/>
          <p:nvPr/>
        </p:nvPicPr>
        <p:blipFill rotWithShape="1">
          <a:blip r:embed="rId3">
            <a:alphaModFix/>
          </a:blip>
          <a:srcRect b="6874" l="0" r="0" t="6874"/>
          <a:stretch/>
        </p:blipFill>
        <p:spPr>
          <a:xfrm>
            <a:off x="4762500" y="381000"/>
            <a:ext cx="3810000" cy="4381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4762500" y="381000"/>
            <a:ext cx="3810000" cy="4381500"/>
          </a:xfrm>
          <a:prstGeom prst="roundRect">
            <a:avLst>
              <a:gd fmla="val 4000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6"/>
          <p:cNvGrpSpPr/>
          <p:nvPr/>
        </p:nvGrpSpPr>
        <p:grpSpPr>
          <a:xfrm>
            <a:off x="571500" y="381000"/>
            <a:ext cx="8001000" cy="743100"/>
            <a:chOff x="571500" y="381000"/>
            <a:chExt cx="8001000" cy="743100"/>
          </a:xfrm>
        </p:grpSpPr>
        <p:sp>
          <p:nvSpPr>
            <p:cNvPr id="86" name="Google Shape;86;p16"/>
            <p:cNvSpPr txBox="1"/>
            <p:nvPr/>
          </p:nvSpPr>
          <p:spPr>
            <a:xfrm>
              <a:off x="571500" y="38100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Usuarios y Actores</a:t>
              </a:r>
              <a:endParaRPr b="1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571500" y="6477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40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¿A quién le afecta?</a:t>
              </a:r>
              <a:endParaRPr b="0" sz="24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571500" y="1333500"/>
            <a:ext cx="2476500" cy="3238500"/>
            <a:chOff x="571500" y="1333500"/>
            <a:chExt cx="2476500" cy="3238500"/>
          </a:xfrm>
        </p:grpSpPr>
        <p:sp>
          <p:nvSpPr>
            <p:cNvPr id="89" name="Google Shape;89;p16"/>
            <p:cNvSpPr/>
            <p:nvPr/>
          </p:nvSpPr>
          <p:spPr>
            <a:xfrm>
              <a:off x="571500" y="1333500"/>
              <a:ext cx="2476500" cy="3238500"/>
            </a:xfrm>
            <a:prstGeom prst="roundRect">
              <a:avLst>
                <a:gd fmla="val 615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" name="Google Shape;90;p16"/>
            <p:cNvGrpSpPr/>
            <p:nvPr/>
          </p:nvGrpSpPr>
          <p:grpSpPr>
            <a:xfrm>
              <a:off x="666750" y="1428750"/>
              <a:ext cx="2286000" cy="1428900"/>
              <a:chOff x="0" y="0"/>
              <a:chExt cx="2286000" cy="1428900"/>
            </a:xfrm>
          </p:grpSpPr>
          <p:pic>
            <p:nvPicPr>
              <p:cNvPr descr="A close-up shot of professional lab administrators or technicians organizing digital manufacturing equipment in a clean workshop, modern lighting." id="91" name="Google Shape;91;p16"/>
              <p:cNvPicPr preferRelativeResize="0"/>
              <p:nvPr/>
            </p:nvPicPr>
            <p:blipFill rotWithShape="1">
              <a:blip r:embed="rId3">
                <a:alphaModFix/>
              </a:blip>
              <a:srcRect b="18750" l="0" r="0" t="18750"/>
              <a:stretch/>
            </p:blipFill>
            <p:spPr>
              <a:xfrm>
                <a:off x="0" y="0"/>
                <a:ext cx="2286000" cy="1428900"/>
              </a:xfrm>
              <a:prstGeom prst="roundRect">
                <a:avLst>
                  <a:gd fmla="val 8000" name="adj"/>
                </a:avLst>
              </a:prstGeom>
              <a:noFill/>
              <a:ln>
                <a:noFill/>
              </a:ln>
            </p:spPr>
          </p:pic>
          <p:sp>
            <p:nvSpPr>
              <p:cNvPr id="92" name="Google Shape;92;p16"/>
              <p:cNvSpPr/>
              <p:nvPr/>
            </p:nvSpPr>
            <p:spPr>
              <a:xfrm>
                <a:off x="0" y="0"/>
                <a:ext cx="22860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" name="Google Shape;93;p16"/>
            <p:cNvSpPr txBox="1"/>
            <p:nvPr/>
          </p:nvSpPr>
          <p:spPr>
            <a:xfrm>
              <a:off x="72390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Equipo operador del Lab881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Responsables directos de gestionar el laboratorio, supervisar el uso de máquinas y administrar el acopio de los residuos generados.</a:t>
              </a:r>
              <a:endParaRPr b="0" sz="10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3333750" y="1333500"/>
            <a:ext cx="2476500" cy="3238500"/>
            <a:chOff x="3333750" y="1333500"/>
            <a:chExt cx="2476500" cy="3238500"/>
          </a:xfrm>
        </p:grpSpPr>
        <p:sp>
          <p:nvSpPr>
            <p:cNvPr id="95" name="Google Shape;95;p16"/>
            <p:cNvSpPr/>
            <p:nvPr/>
          </p:nvSpPr>
          <p:spPr>
            <a:xfrm>
              <a:off x="3333750" y="1333500"/>
              <a:ext cx="2476500" cy="3238500"/>
            </a:xfrm>
            <a:prstGeom prst="roundRect">
              <a:avLst>
                <a:gd fmla="val 615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16"/>
            <p:cNvGrpSpPr/>
            <p:nvPr/>
          </p:nvGrpSpPr>
          <p:grpSpPr>
            <a:xfrm>
              <a:off x="3429000" y="1428750"/>
              <a:ext cx="2286000" cy="1428900"/>
              <a:chOff x="0" y="0"/>
              <a:chExt cx="2286000" cy="1428900"/>
            </a:xfrm>
          </p:grpSpPr>
          <p:pic>
            <p:nvPicPr>
              <p:cNvPr descr="Young design students and creative makers working together at a high-tech university laboratory, looking excited." id="97" name="Google Shape;97;p16"/>
              <p:cNvPicPr preferRelativeResize="0"/>
              <p:nvPr/>
            </p:nvPicPr>
            <p:blipFill rotWithShape="1">
              <a:blip r:embed="rId4">
                <a:alphaModFix/>
              </a:blip>
              <a:srcRect b="18750" l="0" r="0" t="18750"/>
              <a:stretch/>
            </p:blipFill>
            <p:spPr>
              <a:xfrm>
                <a:off x="0" y="0"/>
                <a:ext cx="2286000" cy="1428900"/>
              </a:xfrm>
              <a:prstGeom prst="roundRect">
                <a:avLst>
                  <a:gd fmla="val 8000" name="adj"/>
                </a:avLst>
              </a:prstGeom>
              <a:noFill/>
              <a:ln>
                <a:noFill/>
              </a:ln>
            </p:spPr>
          </p:pic>
          <p:sp>
            <p:nvSpPr>
              <p:cNvPr id="98" name="Google Shape;98;p16"/>
              <p:cNvSpPr/>
              <p:nvPr/>
            </p:nvSpPr>
            <p:spPr>
              <a:xfrm>
                <a:off x="0" y="0"/>
                <a:ext cx="22860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16"/>
            <p:cNvSpPr txBox="1"/>
            <p:nvPr/>
          </p:nvSpPr>
          <p:spPr>
            <a:xfrm>
              <a:off x="348615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Personas usuarias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Estudiantes, investigadores y creadores que utilizan diariamente las tecnologías de impresión 3D y corte láser para sus prototipos.</a:t>
              </a:r>
              <a:endParaRPr b="0" sz="10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" name="Google Shape;100;p16"/>
          <p:cNvGrpSpPr/>
          <p:nvPr/>
        </p:nvGrpSpPr>
        <p:grpSpPr>
          <a:xfrm>
            <a:off x="6096000" y="1333500"/>
            <a:ext cx="2476500" cy="3238500"/>
            <a:chOff x="6096000" y="1333500"/>
            <a:chExt cx="2476500" cy="3238500"/>
          </a:xfrm>
        </p:grpSpPr>
        <p:sp>
          <p:nvSpPr>
            <p:cNvPr id="101" name="Google Shape;101;p16"/>
            <p:cNvSpPr/>
            <p:nvPr/>
          </p:nvSpPr>
          <p:spPr>
            <a:xfrm>
              <a:off x="6096000" y="1333500"/>
              <a:ext cx="2476500" cy="3238500"/>
            </a:xfrm>
            <a:prstGeom prst="roundRect">
              <a:avLst>
                <a:gd fmla="val 615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16"/>
            <p:cNvGrpSpPr/>
            <p:nvPr/>
          </p:nvGrpSpPr>
          <p:grpSpPr>
            <a:xfrm>
              <a:off x="6191250" y="1428750"/>
              <a:ext cx="2286000" cy="1428900"/>
              <a:chOff x="0" y="0"/>
              <a:chExt cx="2286000" cy="1428900"/>
            </a:xfrm>
          </p:grpSpPr>
          <p:pic>
            <p:nvPicPr>
              <p:cNvPr descr="Municipal waste management officer or logistics coordinator planning recycling routes, modern clean design style." id="103" name="Google Shape;103;p16"/>
              <p:cNvPicPr preferRelativeResize="0"/>
              <p:nvPr/>
            </p:nvPicPr>
            <p:blipFill rotWithShape="1">
              <a:blip r:embed="rId5">
                <a:alphaModFix/>
              </a:blip>
              <a:srcRect b="18750" l="0" r="0" t="18750"/>
              <a:stretch/>
            </p:blipFill>
            <p:spPr>
              <a:xfrm>
                <a:off x="0" y="0"/>
                <a:ext cx="2286000" cy="1428900"/>
              </a:xfrm>
              <a:prstGeom prst="roundRect">
                <a:avLst>
                  <a:gd fmla="val 8000" name="adj"/>
                </a:avLst>
              </a:prstGeom>
              <a:noFill/>
              <a:ln>
                <a:noFill/>
              </a:ln>
            </p:spPr>
          </p:pic>
          <p:sp>
            <p:nvSpPr>
              <p:cNvPr id="104" name="Google Shape;104;p16"/>
              <p:cNvSpPr/>
              <p:nvPr/>
            </p:nvSpPr>
            <p:spPr>
              <a:xfrm>
                <a:off x="0" y="0"/>
                <a:ext cx="22860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" name="Google Shape;105;p16"/>
            <p:cNvSpPr txBox="1"/>
            <p:nvPr/>
          </p:nvSpPr>
          <p:spPr>
            <a:xfrm>
              <a:off x="624840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Gestores municipales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Encargados de la recolección, clasificación y disposición final de la basura urbana, lidiando con los descartes complejos.</a:t>
              </a:r>
              <a:endParaRPr b="0" sz="10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571500" y="381000"/>
            <a:ext cx="8001000" cy="743100"/>
            <a:chOff x="571500" y="381000"/>
            <a:chExt cx="8001000" cy="743100"/>
          </a:xfrm>
        </p:grpSpPr>
        <p:sp>
          <p:nvSpPr>
            <p:cNvPr id="111" name="Google Shape;111;p17"/>
            <p:cNvSpPr txBox="1"/>
            <p:nvPr/>
          </p:nvSpPr>
          <p:spPr>
            <a:xfrm>
              <a:off x="571500" y="38100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Evidencia Inicial</a:t>
              </a:r>
              <a:endParaRPr b="1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571500" y="6477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40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¿Qué datos nos respaldan?</a:t>
              </a:r>
              <a:endParaRPr b="0" sz="24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571500" y="1524000"/>
            <a:ext cx="2476500" cy="3048000"/>
            <a:chOff x="571500" y="1524000"/>
            <a:chExt cx="2476500" cy="3048000"/>
          </a:xfrm>
        </p:grpSpPr>
        <p:sp>
          <p:nvSpPr>
            <p:cNvPr id="114" name="Google Shape;114;p17"/>
            <p:cNvSpPr/>
            <p:nvPr/>
          </p:nvSpPr>
          <p:spPr>
            <a:xfrm>
              <a:off x="571500" y="152400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762000" y="1762125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96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01</a:t>
              </a:r>
              <a:endParaRPr b="0" sz="2960">
                <a:solidFill>
                  <a:srgbClr val="38BDF8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762000" y="2333625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Ruptura de la economía circular</a:t>
              </a:r>
              <a:endParaRPr b="1" sz="14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Falta de un sistema de reciclaje adecuado en el laboratorio.</a:t>
              </a:r>
              <a:endParaRPr b="0"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3333750" y="1524000"/>
            <a:ext cx="2476500" cy="3048000"/>
            <a:chOff x="3333750" y="1524000"/>
            <a:chExt cx="2476500" cy="3048000"/>
          </a:xfrm>
        </p:grpSpPr>
        <p:sp>
          <p:nvSpPr>
            <p:cNvPr id="118" name="Google Shape;118;p17"/>
            <p:cNvSpPr/>
            <p:nvPr/>
          </p:nvSpPr>
          <p:spPr>
            <a:xfrm>
              <a:off x="3333750" y="152400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3524250" y="1762125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96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02</a:t>
              </a:r>
              <a:endParaRPr b="0" sz="2960">
                <a:solidFill>
                  <a:srgbClr val="38BDF8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3524250" y="2333625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Falta de trazabilidad</a:t>
              </a:r>
              <a:endParaRPr b="1" sz="14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Inexistencia de registros sobre los flujos reales de materiales desechados.</a:t>
              </a:r>
              <a:endParaRPr b="0"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6096000" y="1524000"/>
            <a:ext cx="2476500" cy="3048000"/>
            <a:chOff x="6096000" y="1524000"/>
            <a:chExt cx="2476500" cy="3048000"/>
          </a:xfrm>
        </p:grpSpPr>
        <p:sp>
          <p:nvSpPr>
            <p:cNvPr id="122" name="Google Shape;122;p17"/>
            <p:cNvSpPr/>
            <p:nvPr/>
          </p:nvSpPr>
          <p:spPr>
            <a:xfrm>
              <a:off x="6096000" y="152400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6286500" y="1762125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96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03</a:t>
              </a:r>
              <a:endParaRPr b="0" sz="2960">
                <a:solidFill>
                  <a:srgbClr val="38BDF8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6286500" y="2333625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Diseño ineficiente</a:t>
              </a:r>
              <a:endParaRPr b="1" sz="14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Optimización deficiente en el uso de las máquinas, generando mermas evitables.</a:t>
              </a:r>
              <a:endParaRPr b="0" sz="11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8"/>
          <p:cNvGrpSpPr/>
          <p:nvPr/>
        </p:nvGrpSpPr>
        <p:grpSpPr>
          <a:xfrm>
            <a:off x="571500" y="381000"/>
            <a:ext cx="8001000" cy="743100"/>
            <a:chOff x="571500" y="381000"/>
            <a:chExt cx="8001000" cy="743100"/>
          </a:xfrm>
        </p:grpSpPr>
        <p:sp>
          <p:nvSpPr>
            <p:cNvPr id="130" name="Google Shape;130;p18"/>
            <p:cNvSpPr txBox="1"/>
            <p:nvPr/>
          </p:nvSpPr>
          <p:spPr>
            <a:xfrm>
              <a:off x="571500" y="38100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Consecuencias</a:t>
              </a:r>
              <a:endParaRPr b="1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571500" y="647700"/>
              <a:ext cx="8001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40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¿Cuáles son las consecuencias?</a:t>
              </a:r>
              <a:endParaRPr b="0" sz="24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grpSp>
        <p:nvGrpSpPr>
          <p:cNvPr id="132" name="Google Shape;132;p18"/>
          <p:cNvGrpSpPr/>
          <p:nvPr/>
        </p:nvGrpSpPr>
        <p:grpSpPr>
          <a:xfrm>
            <a:off x="762000" y="1172900"/>
            <a:ext cx="3619500" cy="3399100"/>
            <a:chOff x="762000" y="1172900"/>
            <a:chExt cx="3619500" cy="3399100"/>
          </a:xfrm>
        </p:grpSpPr>
        <p:sp>
          <p:nvSpPr>
            <p:cNvPr id="133" name="Google Shape;133;p18"/>
            <p:cNvSpPr/>
            <p:nvPr/>
          </p:nvSpPr>
          <p:spPr>
            <a:xfrm>
              <a:off x="762000" y="1333500"/>
              <a:ext cx="36195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4" name="Google Shape;134;p18"/>
            <p:cNvPicPr preferRelativeResize="0"/>
            <p:nvPr/>
          </p:nvPicPr>
          <p:blipFill rotWithShape="1">
            <a:blip r:embed="rId3">
              <a:alphaModFix/>
            </a:blip>
            <a:srcRect b="25144" l="387" r="387" t="0"/>
            <a:stretch/>
          </p:blipFill>
          <p:spPr>
            <a:xfrm>
              <a:off x="762000" y="1172909"/>
              <a:ext cx="3619500" cy="1524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135" name="Google Shape;135;p18"/>
            <p:cNvSpPr/>
            <p:nvPr/>
          </p:nvSpPr>
          <p:spPr>
            <a:xfrm>
              <a:off x="762000" y="1172900"/>
              <a:ext cx="3619500" cy="3399000"/>
            </a:xfrm>
            <a:prstGeom prst="roundRect">
              <a:avLst>
                <a:gd fmla="val 4705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952500" y="3000375"/>
              <a:ext cx="3238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monetization_on</a:t>
              </a:r>
              <a:r>
                <a:rPr b="1" lang="es-419" sz="16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Costos Operativos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-419" sz="115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Aumento evitable en los costos operativos del Hub Providencia.</a:t>
              </a:r>
              <a:endParaRPr b="0" sz="11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4762500" y="1172909"/>
            <a:ext cx="3619500" cy="3399092"/>
            <a:chOff x="4762500" y="1172909"/>
            <a:chExt cx="3619500" cy="3399092"/>
          </a:xfrm>
        </p:grpSpPr>
        <p:sp>
          <p:nvSpPr>
            <p:cNvPr id="138" name="Google Shape;138;p18"/>
            <p:cNvSpPr/>
            <p:nvPr/>
          </p:nvSpPr>
          <p:spPr>
            <a:xfrm>
              <a:off x="4762500" y="1333500"/>
              <a:ext cx="36195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" name="Google Shape;139;p18"/>
            <p:cNvPicPr preferRelativeResize="0"/>
            <p:nvPr/>
          </p:nvPicPr>
          <p:blipFill rotWithShape="1">
            <a:blip r:embed="rId4">
              <a:alphaModFix/>
            </a:blip>
            <a:srcRect b="25144" l="387" r="387" t="0"/>
            <a:stretch/>
          </p:blipFill>
          <p:spPr>
            <a:xfrm>
              <a:off x="4762500" y="1172909"/>
              <a:ext cx="3619500" cy="1524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140" name="Google Shape;140;p18"/>
            <p:cNvSpPr/>
            <p:nvPr/>
          </p:nvSpPr>
          <p:spPr>
            <a:xfrm>
              <a:off x="4762500" y="1333500"/>
              <a:ext cx="3619500" cy="3238500"/>
            </a:xfrm>
            <a:prstGeom prst="roundRect">
              <a:avLst>
                <a:gd fmla="val 4705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4953000" y="3000375"/>
              <a:ext cx="3238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eco</a:t>
              </a:r>
              <a:r>
                <a:rPr b="1" lang="es-419" sz="16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Impacto Ambiental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-419" sz="115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Efecto negativo directo en la huella de carbono comunal.</a:t>
              </a:r>
              <a:endParaRPr b="0" sz="11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9"/>
          <p:cNvGrpSpPr/>
          <p:nvPr/>
        </p:nvGrpSpPr>
        <p:grpSpPr>
          <a:xfrm>
            <a:off x="571500" y="381000"/>
            <a:ext cx="8001000" cy="743100"/>
            <a:chOff x="571500" y="381000"/>
            <a:chExt cx="8001000" cy="743100"/>
          </a:xfrm>
        </p:grpSpPr>
        <p:sp>
          <p:nvSpPr>
            <p:cNvPr id="147" name="Google Shape;147;p19"/>
            <p:cNvSpPr txBox="1"/>
            <p:nvPr/>
          </p:nvSpPr>
          <p:spPr>
            <a:xfrm>
              <a:off x="571500" y="38100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Metodología</a:t>
              </a:r>
              <a:endParaRPr b="1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571500" y="6477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40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Plan de Trabajo Preliminar</a:t>
              </a:r>
              <a:endParaRPr b="0" sz="24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cxnSp>
        <p:nvCxnSpPr>
          <p:cNvPr id="149" name="Google Shape;149;p19"/>
          <p:cNvCxnSpPr/>
          <p:nvPr/>
        </p:nvCxnSpPr>
        <p:spPr>
          <a:xfrm>
            <a:off x="1333500" y="2047875"/>
            <a:ext cx="6477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" name="Google Shape;150;p19"/>
          <p:cNvGrpSpPr/>
          <p:nvPr/>
        </p:nvGrpSpPr>
        <p:grpSpPr>
          <a:xfrm>
            <a:off x="1352550" y="1971675"/>
            <a:ext cx="6438900" cy="152400"/>
            <a:chOff x="1352550" y="1971675"/>
            <a:chExt cx="6438900" cy="152400"/>
          </a:xfrm>
        </p:grpSpPr>
        <p:sp>
          <p:nvSpPr>
            <p:cNvPr id="151" name="Google Shape;151;p19"/>
            <p:cNvSpPr/>
            <p:nvPr/>
          </p:nvSpPr>
          <p:spPr>
            <a:xfrm>
              <a:off x="1352550" y="1971675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3448050" y="1971675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5543550" y="1971675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7639050" y="1971675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9"/>
          <p:cNvGrpSpPr/>
          <p:nvPr/>
        </p:nvGrpSpPr>
        <p:grpSpPr>
          <a:xfrm>
            <a:off x="571500" y="1424940"/>
            <a:ext cx="1714500" cy="2956710"/>
            <a:chOff x="0" y="91440"/>
            <a:chExt cx="1714500" cy="2956710"/>
          </a:xfrm>
        </p:grpSpPr>
        <p:sp>
          <p:nvSpPr>
            <p:cNvPr id="156" name="Google Shape;156;p19"/>
            <p:cNvSpPr txBox="1"/>
            <p:nvPr/>
          </p:nvSpPr>
          <p:spPr>
            <a:xfrm>
              <a:off x="1381125" y="91440"/>
              <a:ext cx="3297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1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01</a:t>
              </a:r>
              <a:endParaRPr b="0" sz="21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pic>
          <p:nvPicPr>
            <p:cNvPr descr="A high-contrast photo of professional design researchers conducting a user interview in a modern lab environment with workshop background." id="157" name="Google Shape;157;p19"/>
            <p:cNvPicPr preferRelativeResize="0"/>
            <p:nvPr/>
          </p:nvPicPr>
          <p:blipFill rotWithShape="1">
            <a:blip r:embed="rId3">
              <a:alphaModFix/>
            </a:blip>
            <a:srcRect b="19445" l="0" r="0" t="19445"/>
            <a:stretch/>
          </p:blipFill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noFill/>
            <a:ln>
              <a:noFill/>
            </a:ln>
          </p:spPr>
        </p:pic>
        <p:sp>
          <p:nvSpPr>
            <p:cNvPr id="158" name="Google Shape;158;p19"/>
            <p:cNvSpPr/>
            <p:nvPr/>
          </p:nvSpPr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 txBox="1"/>
            <p:nvPr/>
          </p:nvSpPr>
          <p:spPr>
            <a:xfrm>
              <a:off x="0" y="1714500"/>
              <a:ext cx="1714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1. Empatizar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0" y="2000250"/>
              <a:ext cx="1714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Levantamiento de información y entrevistas en terreno con el equipo operador del Lab881.</a:t>
              </a:r>
              <a:endParaRPr b="0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2667000" y="1424940"/>
            <a:ext cx="1714500" cy="2956710"/>
            <a:chOff x="0" y="91440"/>
            <a:chExt cx="1714500" cy="2956710"/>
          </a:xfrm>
        </p:grpSpPr>
        <p:sp>
          <p:nvSpPr>
            <p:cNvPr id="162" name="Google Shape;162;p19"/>
            <p:cNvSpPr txBox="1"/>
            <p:nvPr/>
          </p:nvSpPr>
          <p:spPr>
            <a:xfrm>
              <a:off x="1381125" y="91440"/>
              <a:ext cx="3297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1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02</a:t>
              </a:r>
              <a:endParaRPr b="0" sz="21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pic>
          <p:nvPicPr>
            <p:cNvPr descr="A minimalist dark themed visual representing data analysis, charts, and digital metric tracking with precise glowing blue interfaces." id="163" name="Google Shape;163;p19"/>
            <p:cNvPicPr preferRelativeResize="0"/>
            <p:nvPr/>
          </p:nvPicPr>
          <p:blipFill rotWithShape="1">
            <a:blip r:embed="rId4">
              <a:alphaModFix/>
            </a:blip>
            <a:srcRect b="19445" l="0" r="0" t="19445"/>
            <a:stretch/>
          </p:blipFill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noFill/>
            <a:ln>
              <a:noFill/>
            </a:ln>
          </p:spPr>
        </p:pic>
        <p:sp>
          <p:nvSpPr>
            <p:cNvPr id="164" name="Google Shape;164;p19"/>
            <p:cNvSpPr/>
            <p:nvPr/>
          </p:nvSpPr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0" y="1714500"/>
              <a:ext cx="1714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2. Definición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0" y="2000250"/>
              <a:ext cx="1714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Análisis de datos, cuantificación de flujos de resina/láser y validación de causas críticas.</a:t>
              </a:r>
              <a:endParaRPr b="0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4762500" y="1424940"/>
            <a:ext cx="1714500" cy="2956710"/>
            <a:chOff x="0" y="91440"/>
            <a:chExt cx="1714500" cy="2956710"/>
          </a:xfrm>
        </p:grpSpPr>
        <p:sp>
          <p:nvSpPr>
            <p:cNvPr id="168" name="Google Shape;168;p19"/>
            <p:cNvSpPr txBox="1"/>
            <p:nvPr/>
          </p:nvSpPr>
          <p:spPr>
            <a:xfrm>
              <a:off x="1381125" y="91440"/>
              <a:ext cx="3297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1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03</a:t>
              </a:r>
              <a:endParaRPr b="0" sz="21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pic>
          <p:nvPicPr>
            <p:cNvPr descr="A modern creative workspace with sketches, sticky notes, and brainstorming flowcharts focused on circular economy concepts." id="169" name="Google Shape;169;p19"/>
            <p:cNvPicPr preferRelativeResize="0"/>
            <p:nvPr/>
          </p:nvPicPr>
          <p:blipFill rotWithShape="1">
            <a:blip r:embed="rId5">
              <a:alphaModFix/>
            </a:blip>
            <a:srcRect b="19445" l="0" r="0" t="19445"/>
            <a:stretch/>
          </p:blipFill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noFill/>
            <a:ln>
              <a:noFill/>
            </a:ln>
          </p:spPr>
        </p:pic>
        <p:sp>
          <p:nvSpPr>
            <p:cNvPr id="170" name="Google Shape;170;p19"/>
            <p:cNvSpPr/>
            <p:nvPr/>
          </p:nvSpPr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0" y="1714500"/>
              <a:ext cx="1714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3. Ideación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0" y="2000250"/>
              <a:ext cx="1714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Generación de alternativas de diseño ágiles y estrategias integrales de economía circular.</a:t>
              </a:r>
              <a:endParaRPr b="0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6858000" y="1424940"/>
            <a:ext cx="1714500" cy="2956710"/>
            <a:chOff x="0" y="91440"/>
            <a:chExt cx="1714500" cy="2956710"/>
          </a:xfrm>
        </p:grpSpPr>
        <p:sp>
          <p:nvSpPr>
            <p:cNvPr id="174" name="Google Shape;174;p19"/>
            <p:cNvSpPr txBox="1"/>
            <p:nvPr/>
          </p:nvSpPr>
          <p:spPr>
            <a:xfrm>
              <a:off x="1381125" y="91440"/>
              <a:ext cx="329700" cy="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1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04</a:t>
              </a:r>
              <a:endParaRPr b="0" sz="21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pic>
          <p:nvPicPr>
            <p:cNvPr descr="Engineering hands assembling a high-tech rapid prototype on a clean modern workshop table with laser-cut elements." id="175" name="Google Shape;175;p19"/>
            <p:cNvPicPr preferRelativeResize="0"/>
            <p:nvPr/>
          </p:nvPicPr>
          <p:blipFill rotWithShape="1">
            <a:blip r:embed="rId6">
              <a:alphaModFix/>
            </a:blip>
            <a:srcRect b="19445" l="0" r="0" t="19445"/>
            <a:stretch/>
          </p:blipFill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noFill/>
            <a:ln>
              <a:noFill/>
            </a:ln>
          </p:spPr>
        </p:pic>
        <p:sp>
          <p:nvSpPr>
            <p:cNvPr id="176" name="Google Shape;176;p19"/>
            <p:cNvSpPr/>
            <p:nvPr/>
          </p:nvSpPr>
          <p:spPr>
            <a:xfrm>
              <a:off x="0" y="571500"/>
              <a:ext cx="1714500" cy="1047900"/>
            </a:xfrm>
            <a:prstGeom prst="roundRect">
              <a:avLst>
                <a:gd fmla="val 909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0" y="1714500"/>
              <a:ext cx="1714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4. Prototipado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0" y="2000250"/>
              <a:ext cx="1714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CBD5E1"/>
                  </a:solidFill>
                  <a:latin typeface="Roboto"/>
                  <a:ea typeface="Roboto"/>
                  <a:cs typeface="Roboto"/>
                  <a:sym typeface="Roboto"/>
                </a:rPr>
                <a:t>Desarrollo sistemático y pruebas técnicas directas de la solución con la contraparte del Lab881.</a:t>
              </a:r>
              <a:endParaRPr b="0" sz="10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20"/>
          <p:cNvGrpSpPr/>
          <p:nvPr/>
        </p:nvGrpSpPr>
        <p:grpSpPr>
          <a:xfrm>
            <a:off x="1714500" y="1428750"/>
            <a:ext cx="5715000" cy="2286000"/>
            <a:chOff x="0" y="0"/>
            <a:chExt cx="5715000" cy="2286000"/>
          </a:xfrm>
        </p:grpSpPr>
        <p:sp>
          <p:nvSpPr>
            <p:cNvPr id="185" name="Google Shape;185;p20"/>
            <p:cNvSpPr/>
            <p:nvPr/>
          </p:nvSpPr>
          <p:spPr>
            <a:xfrm>
              <a:off x="0" y="0"/>
              <a:ext cx="5715000" cy="22860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381000" y="38100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459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¡Muchas Gracias!</a:t>
              </a:r>
              <a:endParaRPr b="0" sz="459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381000" y="13335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381000" y="1666875"/>
              <a:ext cx="495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Lab881 &amp; Hub Providencia</a:t>
              </a:r>
              <a:endParaRPr b="0" sz="11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